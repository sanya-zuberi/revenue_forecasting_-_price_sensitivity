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5C8322-BD46-4227-BAAC-0624949BD321}">
  <a:tblStyle styleId="{485C8322-BD46-4227-BAAC-0624949BD3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regular.fntdata"/><Relationship Id="rId14" Type="http://schemas.openxmlformats.org/officeDocument/2006/relationships/slide" Target="slides/slide8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avenPr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778bd176f9fa586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778bd176f9fa586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778bd176f9fa586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778bd176f9fa586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778bd176f9fa586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778bd176f9fa586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778bd176f9fa586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778bd176f9fa586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78bd176f9fa5868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778bd176f9fa5868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778bd176f9fa586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778bd176f9fa586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778bd176f9fa586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778bd176f9fa586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Revenue Forecasting &amp; Price Sensitivity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revenue responds to demand, pricing, and network growth and what a price change would do to income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The Question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7424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b="1" lang="en-GB" sz="1200">
                <a:solidFill>
                  <a:schemeClr val="accent1"/>
                </a:solidFill>
              </a:rPr>
              <a:t>How does revenue move with demand?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Revenue is price * energy, so the first job is </a:t>
            </a:r>
            <a:r>
              <a:rPr lang="en-GB" sz="1200">
                <a:solidFill>
                  <a:srgbClr val="000000"/>
                </a:solidFill>
              </a:rPr>
              <a:t>separating</a:t>
            </a:r>
            <a:r>
              <a:rPr lang="en-GB" sz="1200">
                <a:solidFill>
                  <a:srgbClr val="000000"/>
                </a:solidFill>
              </a:rPr>
              <a:t> what drives energy delivered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b="1" lang="en-GB" sz="1200">
                <a:solidFill>
                  <a:schemeClr val="accent1"/>
                </a:solidFill>
              </a:rPr>
              <a:t>Do customers respond to price?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If they do, a price rise could cost more is lost demand that it earns. If not, price is a free lever.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b="1" lang="en-GB" sz="1200">
                <a:solidFill>
                  <a:schemeClr val="accent1"/>
                </a:solidFill>
              </a:rPr>
              <a:t>What would +-5% and +-qo% do in 2025?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Forecast a 2022 baseline, then stimulate both price changes under a range of customer sensitivities.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Revenue Grew With the Network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3742578"/>
            <a:ext cx="70305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Revenue grew about 4.4x in two years while the network grew about 4.1x. Total revenue mixes network size with customer behaviour, so everything that follows is measured per station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291" name="Google Shape;291;p15" title="Screenshot 2026-10-02 125040.png"/>
          <p:cNvPicPr preferRelativeResize="0"/>
          <p:nvPr/>
        </p:nvPicPr>
        <p:blipFill rotWithShape="1">
          <a:blip r:embed="rId3">
            <a:alphaModFix/>
          </a:blip>
          <a:srcRect b="-1900" l="0" r="0" t="1900"/>
          <a:stretch/>
        </p:blipFill>
        <p:spPr>
          <a:xfrm>
            <a:off x="4976925" y="1467150"/>
            <a:ext cx="3276600" cy="16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800" y="1459225"/>
            <a:ext cx="3276600" cy="19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225" y="1391000"/>
            <a:ext cx="3523075" cy="20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Price Moved and Demand Per Station Did Not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303800" y="3094200"/>
            <a:ext cx="7030500" cy="18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Price rose 25% in 2023 and fell 8% in 2024, yet sessions per station-day barely moved (13.92 to 13.88 to 13.85).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The two elasticity estimates have opposite signs (-0.21 and +0.21), so they are not a consistent response, the estimate is effectively zero.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At session level, price variation left after removing year and peak-hour effects has a correlation of -0.0016 with energy per session.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Caveat: only three price </a:t>
            </a:r>
            <a:r>
              <a:rPr lang="en-GB" sz="1200"/>
              <a:t>levels</a:t>
            </a:r>
            <a:r>
              <a:rPr lang="en-GB" sz="1200"/>
              <a:t> exist and the data looks simulated, so a measured zero may reflect how it was generated.</a:t>
            </a:r>
            <a:endParaRPr sz="1200"/>
          </a:p>
        </p:txBody>
      </p:sp>
      <p:graphicFrame>
        <p:nvGraphicFramePr>
          <p:cNvPr id="300" name="Google Shape;300;p16"/>
          <p:cNvGraphicFramePr/>
          <p:nvPr/>
        </p:nvGraphicFramePr>
        <p:xfrm>
          <a:off x="1199557" y="12636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{485C8322-BD46-4227-BAAC-0624949BD321}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Year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Avg Price (£/kWh)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Sessions per station-day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kWh per station-day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Arc elasticity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2022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0.511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13.92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689.0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2023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0.639 (+25%)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13.88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652.6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-0.21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2024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0.588 (-8%)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13.85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641.5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+0.21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The Forecast Model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920200" y="195195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3.8%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Daily MAPE on a held-out 90 days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07" name="Google Shape;307;p17"/>
          <p:cNvSpPr txBox="1"/>
          <p:nvPr>
            <p:ph idx="1" type="body"/>
          </p:nvPr>
        </p:nvSpPr>
        <p:spPr>
          <a:xfrm>
            <a:off x="1303800" y="1170900"/>
            <a:ext cx="70305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Prophet, fitted to daily kWh station, Revenue = station +kWh per station-day * price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6054200" y="195195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1006/90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Training days/ test days, all test days at 33 stations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09" name="Google Shape;309;p17"/>
          <p:cNvSpPr txBox="1"/>
          <p:nvPr>
            <p:ph idx="1" type="body"/>
          </p:nvPr>
        </p:nvSpPr>
        <p:spPr>
          <a:xfrm>
            <a:off x="3487200" y="195195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30.4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RMSE in kWh per station-day (about 5% of the typical level)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1303800" y="3206000"/>
            <a:ext cx="7030500" cy="15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Only demand is modelled. Stations and price are explicit assumptions, so the model does not extrapolate network expansion or price steps as a trend.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Strong weekly patterns run about 27% below weekdays. No reliable yearly seasonality, the model with and without it scored the same (RMSE 30.76 vs 30.41), so the simpler one was kept.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Limitation: over the Oct-Dec test window the chosen model runs slightly low (under 2% per month). The window cannot speak to other months. 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type="title"/>
          </p:nvPr>
        </p:nvSpPr>
        <p:spPr>
          <a:xfrm>
            <a:off x="1303800" y="598575"/>
            <a:ext cx="7030500" cy="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2025 Baseline Revenue Forecast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1303800" y="4193656"/>
            <a:ext cx="7030500" cy="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About 0.3 points of the 2025 vs 2024 gap come from 2025 having one fewer day.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317" name="Google Shape;3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180" y="1699810"/>
            <a:ext cx="4296042" cy="23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8"/>
          <p:cNvSpPr txBox="1"/>
          <p:nvPr/>
        </p:nvSpPr>
        <p:spPr>
          <a:xfrm>
            <a:off x="5681975" y="1540199"/>
            <a:ext cx="3173700" cy="2564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£4.50M</a:t>
            </a:r>
            <a:endParaRPr b="1" sz="20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2025 baseline total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-1.2% vs 2024 (£4.55M)</a:t>
            </a:r>
            <a:endParaRPr b="1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Assume 33 stations and the 2024 average price of £0.558/kWh, with per-station demand continuing its gentle decline.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Monthly differences reflect days in the month and weekend count, not yearly seasonality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>
            <p:ph idx="1" type="body"/>
          </p:nvPr>
        </p:nvSpPr>
        <p:spPr>
          <a:xfrm>
            <a:off x="1809100" y="1206638"/>
            <a:ext cx="29862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Monthly baseline revenue, 2025 (£k)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>
            <p:ph type="title"/>
          </p:nvPr>
        </p:nvSpPr>
        <p:spPr>
          <a:xfrm>
            <a:off x="1303800" y="598575"/>
            <a:ext cx="7030500" cy="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Price Scenario: +5% and -10%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25" name="Google Shape;325;p19"/>
          <p:cNvSpPr txBox="1"/>
          <p:nvPr>
            <p:ph idx="1" type="body"/>
          </p:nvPr>
        </p:nvSpPr>
        <p:spPr>
          <a:xfrm>
            <a:off x="1303800" y="1170900"/>
            <a:ext cx="7030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Change in 2025 revenue vs baseline, under different assumed customer sensitivities (elasticity ε)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4804425" y="1837850"/>
            <a:ext cx="3173700" cy="2508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Nunito"/>
                <a:ea typeface="Nunito"/>
                <a:cs typeface="Nunito"/>
                <a:sym typeface="Nunito"/>
              </a:rPr>
              <a:t>Break-even: ε = -1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At zero elasticity (the measured value). +5% adds £225 (£4.73M) and -10% loses £450k (£4.05M).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If customers are more price-sensitive than -1, the effect flips: a rise loses money and a cut gains.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This data cannot say which side real customers are on.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7" name="Google Shape;3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450" y="1887275"/>
            <a:ext cx="3410549" cy="16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Pricing Impact and </a:t>
            </a:r>
            <a:r>
              <a:rPr lang="en-GB">
                <a:solidFill>
                  <a:schemeClr val="lt1"/>
                </a:solidFill>
              </a:rPr>
              <a:t>Recommendations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3" name="Google Shape;333;p20"/>
          <p:cNvSpPr txBox="1"/>
          <p:nvPr>
            <p:ph idx="1" type="body"/>
          </p:nvPr>
        </p:nvSpPr>
        <p:spPr>
          <a:xfrm>
            <a:off x="1303800" y="1441293"/>
            <a:ext cx="7030500" cy="3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Treat the price evidence as thin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At the measured elasticity, +5% adds 5.0% revenue, but break-even is ε=-1 and three price levels cannot rule out more sensitive customers.</a:t>
            </a:r>
            <a:endParaRPr>
              <a:solidFill>
                <a:schemeClr val="lt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Pilot before rolling out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Test a +5% change at a subset of stations and track per-station demand, so real behaviour replaces an assumed elasticity.</a:t>
            </a:r>
            <a:endParaRPr>
              <a:solidFill>
                <a:schemeClr val="lt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Network growth is the bigger lever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Each station earns about £136k a year at baseline, a 5% price rise at zero elasticity is worth roughly 1.65 stations.</a:t>
            </a:r>
            <a:endParaRPr>
              <a:solidFill>
                <a:schemeClr val="lt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Revisit the forecast assumption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The baseline holds 33 stations and the 2024 price, and the dataset appears simulated, update both with real data before relying on the figures.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